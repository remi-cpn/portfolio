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al Bold" charset="1" panose="020B0704020202020204"/>
      <p:regular r:id="rId16"/>
    </p:embeddedFont>
    <p:embeddedFont>
      <p:font typeface="Calibri (MS)" charset="1" panose="020F0502020204030204"/>
      <p:regular r:id="rId17"/>
    </p:embeddedFont>
    <p:embeddedFont>
      <p:font typeface="Calibri (MS) Italics" charset="1" panose="020F05020202040A0204"/>
      <p:regular r:id="rId18"/>
    </p:embeddedFont>
    <p:embeddedFont>
      <p:font typeface="Calibri (MS) Bold" charset="1" panose="020F07020304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Avec une seule fonction générique d'intersection quadrique, tu peux afficher toutes  les formes du second degré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2697" y="8153604"/>
            <a:ext cx="18313403" cy="2191822"/>
            <a:chOff x="0" y="0"/>
            <a:chExt cx="24417871" cy="29224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8942"/>
              <a:ext cx="24383999" cy="2904498"/>
            </a:xfrm>
            <a:custGeom>
              <a:avLst/>
              <a:gdLst/>
              <a:ahLst/>
              <a:cxnLst/>
              <a:rect r="r" b="b" t="t" l="l"/>
              <a:pathLst>
                <a:path h="290449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904498"/>
                  </a:lnTo>
                  <a:lnTo>
                    <a:pt x="0" y="2904498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17782" cy="2922382"/>
            </a:xfrm>
            <a:custGeom>
              <a:avLst/>
              <a:gdLst/>
              <a:ahLst/>
              <a:cxnLst/>
              <a:rect r="r" b="b" t="t" l="l"/>
              <a:pathLst>
                <a:path h="29223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4034"/>
                    <a:pt x="24417782" y="8942"/>
                  </a:cubicBezTo>
                  <a:lnTo>
                    <a:pt x="24417782" y="2913440"/>
                  </a:lnTo>
                  <a:cubicBezTo>
                    <a:pt x="24417782" y="2918415"/>
                    <a:pt x="24410163" y="2922382"/>
                    <a:pt x="24400890" y="2922382"/>
                  </a:cubicBezTo>
                  <a:lnTo>
                    <a:pt x="16891" y="2922382"/>
                  </a:lnTo>
                  <a:cubicBezTo>
                    <a:pt x="7493" y="2922382"/>
                    <a:pt x="0" y="2918348"/>
                    <a:pt x="0" y="2913440"/>
                  </a:cubicBezTo>
                  <a:lnTo>
                    <a:pt x="0" y="8942"/>
                  </a:lnTo>
                  <a:cubicBezTo>
                    <a:pt x="0" y="4034"/>
                    <a:pt x="7620" y="0"/>
                    <a:pt x="16891" y="0"/>
                  </a:cubicBezTo>
                  <a:moveTo>
                    <a:pt x="16891" y="17951"/>
                  </a:moveTo>
                  <a:lnTo>
                    <a:pt x="16891" y="8942"/>
                  </a:lnTo>
                  <a:lnTo>
                    <a:pt x="33909" y="8942"/>
                  </a:lnTo>
                  <a:lnTo>
                    <a:pt x="33909" y="2913440"/>
                  </a:lnTo>
                  <a:lnTo>
                    <a:pt x="16891" y="2913440"/>
                  </a:lnTo>
                  <a:lnTo>
                    <a:pt x="16891" y="2904498"/>
                  </a:lnTo>
                  <a:lnTo>
                    <a:pt x="24400890" y="2904498"/>
                  </a:lnTo>
                  <a:lnTo>
                    <a:pt x="24400890" y="2913440"/>
                  </a:lnTo>
                  <a:lnTo>
                    <a:pt x="24384000" y="2913440"/>
                  </a:lnTo>
                  <a:lnTo>
                    <a:pt x="24384000" y="8942"/>
                  </a:lnTo>
                  <a:lnTo>
                    <a:pt x="24400890" y="8942"/>
                  </a:lnTo>
                  <a:lnTo>
                    <a:pt x="24400890" y="17951"/>
                  </a:lnTo>
                  <a:lnTo>
                    <a:pt x="16891" y="17951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640080"/>
            <a:ext cx="9144000" cy="3657600"/>
            <a:chOff x="0" y="0"/>
            <a:chExt cx="12192000" cy="4876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2192000" cy="4962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00"/>
                </a:lnSpc>
              </a:pPr>
              <a:r>
                <a:rPr lang="en-US" sz="24000" b="true">
                  <a:solidFill>
                    <a:srgbClr val="00C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3840480"/>
            <a:ext cx="16459200" cy="1188720"/>
            <a:chOff x="0" y="0"/>
            <a:chExt cx="2194560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21945600" cy="1670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Ray Tracer — Niveau Supérieur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5" y="8327352"/>
            <a:ext cx="16824960" cy="1097280"/>
            <a:chOff x="0" y="0"/>
            <a:chExt cx="2243328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243328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00C8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Vous avez survécu à miniRT. C’est maintenant que le defis commence !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520" y="9258300"/>
            <a:ext cx="15035771" cy="914400"/>
            <a:chOff x="0" y="0"/>
            <a:chExt cx="20047695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047696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047696">
                  <a:moveTo>
                    <a:pt x="0" y="0"/>
                  </a:moveTo>
                  <a:lnTo>
                    <a:pt x="20047696" y="0"/>
                  </a:lnTo>
                  <a:lnTo>
                    <a:pt x="2004769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730" r="-9466" b="-30073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047695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Ecole 42    —   by rcompain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360757" y="7191876"/>
            <a:ext cx="3036056" cy="3107830"/>
          </a:xfrm>
          <a:custGeom>
            <a:avLst/>
            <a:gdLst/>
            <a:ahLst/>
            <a:cxnLst/>
            <a:rect r="r" b="b" t="t" l="l"/>
            <a:pathLst>
              <a:path h="3107830" w="3036056">
                <a:moveTo>
                  <a:pt x="0" y="0"/>
                </a:moveTo>
                <a:lnTo>
                  <a:pt x="3036056" y="0"/>
                </a:lnTo>
                <a:lnTo>
                  <a:pt x="3036056" y="3107830"/>
                </a:lnTo>
                <a:lnTo>
                  <a:pt x="0" y="3107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20" y="365760"/>
            <a:ext cx="16824960" cy="1097280"/>
            <a:chOff x="0" y="0"/>
            <a:chExt cx="2243328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2433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0F4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Deux approches pour le rendu 3D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8823" y="1541783"/>
            <a:ext cx="16850363" cy="98555"/>
            <a:chOff x="0" y="0"/>
            <a:chExt cx="2246715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2433280" cy="97536"/>
            </a:xfrm>
            <a:custGeom>
              <a:avLst/>
              <a:gdLst/>
              <a:ahLst/>
              <a:cxnLst/>
              <a:rect r="r" b="b" t="t" l="l"/>
              <a:pathLst>
                <a:path h="9753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67063" cy="131320"/>
            </a:xfrm>
            <a:custGeom>
              <a:avLst/>
              <a:gdLst/>
              <a:ahLst/>
              <a:cxnLst/>
              <a:rect r="r" b="b" t="t" l="l"/>
              <a:pathLst>
                <a:path h="13132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14427"/>
                  </a:lnTo>
                  <a:cubicBezTo>
                    <a:pt x="22467063" y="123825"/>
                    <a:pt x="22459443" y="131318"/>
                    <a:pt x="2245017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450171" y="97536"/>
                  </a:lnTo>
                  <a:lnTo>
                    <a:pt x="22450171" y="114427"/>
                  </a:lnTo>
                  <a:lnTo>
                    <a:pt x="22433280" y="11442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2470" y="1901190"/>
            <a:ext cx="7993380" cy="7536180"/>
            <a:chOff x="0" y="0"/>
            <a:chExt cx="10657840" cy="10048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106070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57840" cy="10048240"/>
            </a:xfrm>
            <a:custGeom>
              <a:avLst/>
              <a:gdLst/>
              <a:ahLst/>
              <a:cxnLst/>
              <a:rect r="r" b="b" t="t" l="l"/>
              <a:pathLst>
                <a:path h="10048240" w="10657840">
                  <a:moveTo>
                    <a:pt x="25400" y="0"/>
                  </a:moveTo>
                  <a:lnTo>
                    <a:pt x="10632440" y="0"/>
                  </a:lnTo>
                  <a:cubicBezTo>
                    <a:pt x="10646410" y="0"/>
                    <a:pt x="10657840" y="11430"/>
                    <a:pt x="10657840" y="25400"/>
                  </a:cubicBezTo>
                  <a:lnTo>
                    <a:pt x="10657840" y="10022840"/>
                  </a:lnTo>
                  <a:cubicBezTo>
                    <a:pt x="10657840" y="10036810"/>
                    <a:pt x="10646410" y="10048240"/>
                    <a:pt x="10632440" y="10048240"/>
                  </a:cubicBezTo>
                  <a:lnTo>
                    <a:pt x="25400" y="10048240"/>
                  </a:lnTo>
                  <a:cubicBezTo>
                    <a:pt x="11430" y="10048240"/>
                    <a:pt x="0" y="10036810"/>
                    <a:pt x="0" y="10022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022840"/>
                  </a:lnTo>
                  <a:lnTo>
                    <a:pt x="25400" y="10022840"/>
                  </a:lnTo>
                  <a:lnTo>
                    <a:pt x="25400" y="9997440"/>
                  </a:lnTo>
                  <a:lnTo>
                    <a:pt x="10632440" y="9997440"/>
                  </a:lnTo>
                  <a:lnTo>
                    <a:pt x="10632440" y="10022840"/>
                  </a:lnTo>
                  <a:lnTo>
                    <a:pt x="10607040" y="10022840"/>
                  </a:lnTo>
                  <a:lnTo>
                    <a:pt x="10607040" y="25400"/>
                  </a:lnTo>
                  <a:lnTo>
                    <a:pt x="10632440" y="25400"/>
                  </a:lnTo>
                  <a:lnTo>
                    <a:pt x="10632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8823" y="1907543"/>
            <a:ext cx="7980683" cy="1031243"/>
            <a:chOff x="0" y="0"/>
            <a:chExt cx="10640911" cy="1374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0607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E5A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40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358011"/>
                  </a:lnTo>
                  <a:cubicBezTo>
                    <a:pt x="10640822" y="1367409"/>
                    <a:pt x="10633202" y="1374902"/>
                    <a:pt x="10623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623931" y="1341120"/>
                  </a:lnTo>
                  <a:lnTo>
                    <a:pt x="10623931" y="1358011"/>
                  </a:lnTo>
                  <a:lnTo>
                    <a:pt x="10607040" y="135801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05840" y="1956816"/>
            <a:ext cx="7315200" cy="914400"/>
            <a:chOff x="0" y="0"/>
            <a:chExt cx="97536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0D11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⚡ Rasterization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3703" y="8399783"/>
            <a:ext cx="2951483" cy="756923"/>
            <a:chOff x="0" y="0"/>
            <a:chExt cx="3935311" cy="10092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3901567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567">
                  <a:moveTo>
                    <a:pt x="0" y="195072"/>
                  </a:moveTo>
                  <a:cubicBezTo>
                    <a:pt x="0" y="87376"/>
                    <a:pt x="89535" y="0"/>
                    <a:pt x="200152" y="0"/>
                  </a:cubicBezTo>
                  <a:lnTo>
                    <a:pt x="3701415" y="0"/>
                  </a:lnTo>
                  <a:cubicBezTo>
                    <a:pt x="3811905" y="0"/>
                    <a:pt x="3901567" y="87376"/>
                    <a:pt x="3901567" y="195072"/>
                  </a:cubicBezTo>
                  <a:lnTo>
                    <a:pt x="3901567" y="780288"/>
                  </a:lnTo>
                  <a:cubicBezTo>
                    <a:pt x="3901567" y="887984"/>
                    <a:pt x="3812032" y="975360"/>
                    <a:pt x="3701415" y="975360"/>
                  </a:cubicBezTo>
                  <a:lnTo>
                    <a:pt x="200152" y="975360"/>
                  </a:lnTo>
                  <a:cubicBezTo>
                    <a:pt x="89662" y="975360"/>
                    <a:pt x="0" y="887984"/>
                    <a:pt x="0" y="780288"/>
                  </a:cubicBezTo>
                  <a:close/>
                </a:path>
              </a:pathLst>
            </a:custGeom>
            <a:solidFill>
              <a:srgbClr val="00E5A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35349" cy="1009142"/>
            </a:xfrm>
            <a:custGeom>
              <a:avLst/>
              <a:gdLst/>
              <a:ahLst/>
              <a:cxnLst/>
              <a:rect r="r" b="b" t="t" l="l"/>
              <a:pathLst>
                <a:path h="1009142" w="3935349">
                  <a:moveTo>
                    <a:pt x="0" y="211963"/>
                  </a:moveTo>
                  <a:cubicBezTo>
                    <a:pt x="0" y="94488"/>
                    <a:pt x="97536" y="0"/>
                    <a:pt x="217043" y="0"/>
                  </a:cubicBezTo>
                  <a:lnTo>
                    <a:pt x="3718306" y="0"/>
                  </a:lnTo>
                  <a:lnTo>
                    <a:pt x="3718306" y="16891"/>
                  </a:lnTo>
                  <a:lnTo>
                    <a:pt x="3718306" y="0"/>
                  </a:lnTo>
                  <a:cubicBezTo>
                    <a:pt x="3837813" y="0"/>
                    <a:pt x="3935349" y="94488"/>
                    <a:pt x="3935349" y="211963"/>
                  </a:cubicBezTo>
                  <a:lnTo>
                    <a:pt x="3918458" y="211963"/>
                  </a:lnTo>
                  <a:lnTo>
                    <a:pt x="3935349" y="211963"/>
                  </a:lnTo>
                  <a:lnTo>
                    <a:pt x="3935349" y="797179"/>
                  </a:lnTo>
                  <a:lnTo>
                    <a:pt x="3918458" y="797179"/>
                  </a:lnTo>
                  <a:lnTo>
                    <a:pt x="3935349" y="797179"/>
                  </a:lnTo>
                  <a:cubicBezTo>
                    <a:pt x="3935349" y="914654"/>
                    <a:pt x="3837813" y="1009142"/>
                    <a:pt x="3718306" y="1009142"/>
                  </a:cubicBezTo>
                  <a:lnTo>
                    <a:pt x="3718306" y="992251"/>
                  </a:lnTo>
                  <a:lnTo>
                    <a:pt x="3718306" y="1009142"/>
                  </a:lnTo>
                  <a:lnTo>
                    <a:pt x="217043" y="1009142"/>
                  </a:lnTo>
                  <a:lnTo>
                    <a:pt x="217043" y="992251"/>
                  </a:lnTo>
                  <a:lnTo>
                    <a:pt x="217043" y="1009142"/>
                  </a:lnTo>
                  <a:cubicBezTo>
                    <a:pt x="97536" y="1009269"/>
                    <a:pt x="0" y="914654"/>
                    <a:pt x="0" y="79717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797179"/>
                  </a:lnTo>
                  <a:lnTo>
                    <a:pt x="16891" y="797179"/>
                  </a:lnTo>
                  <a:lnTo>
                    <a:pt x="33909" y="797179"/>
                  </a:lnTo>
                  <a:cubicBezTo>
                    <a:pt x="33909" y="895096"/>
                    <a:pt x="115570" y="975360"/>
                    <a:pt x="217043" y="975360"/>
                  </a:cubicBezTo>
                  <a:lnTo>
                    <a:pt x="3718306" y="975360"/>
                  </a:lnTo>
                  <a:cubicBezTo>
                    <a:pt x="3819906" y="975360"/>
                    <a:pt x="3901440" y="895223"/>
                    <a:pt x="3901440" y="797179"/>
                  </a:cubicBezTo>
                  <a:lnTo>
                    <a:pt x="3901440" y="211963"/>
                  </a:lnTo>
                  <a:cubicBezTo>
                    <a:pt x="3901440" y="114046"/>
                    <a:pt x="3819779" y="33782"/>
                    <a:pt x="3718306" y="33782"/>
                  </a:cubicBezTo>
                  <a:lnTo>
                    <a:pt x="217043" y="33782"/>
                  </a:lnTo>
                  <a:lnTo>
                    <a:pt x="217043" y="16891"/>
                  </a:lnTo>
                  <a:lnTo>
                    <a:pt x="217043" y="33909"/>
                  </a:lnTo>
                  <a:cubicBezTo>
                    <a:pt x="115443" y="33909"/>
                    <a:pt x="33909" y="114046"/>
                    <a:pt x="33909" y="212090"/>
                  </a:cubicBez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86400" y="8449056"/>
            <a:ext cx="2926080" cy="658368"/>
            <a:chOff x="0" y="0"/>
            <a:chExt cx="3901440" cy="8778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01440" cy="877824"/>
            </a:xfrm>
            <a:custGeom>
              <a:avLst/>
              <a:gdLst/>
              <a:ahLst/>
              <a:cxnLst/>
              <a:rect r="r" b="b" t="t" l="l"/>
              <a:pathLst>
                <a:path h="87782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901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TEMPS RÉEL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" y="3108960"/>
            <a:ext cx="7132320" cy="5029200"/>
            <a:chOff x="0" y="0"/>
            <a:chExt cx="9509760" cy="6705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6705600"/>
            </a:xfrm>
            <a:custGeom>
              <a:avLst/>
              <a:gdLst/>
              <a:ahLst/>
              <a:cxnLst/>
              <a:rect r="r" b="b" t="t" l="l"/>
              <a:pathLst>
                <a:path h="67056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705600"/>
                  </a:lnTo>
                  <a:lnTo>
                    <a:pt x="0" y="670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70" t="0" r="-4047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509760" cy="6762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Projette chaque triangle sur l'écran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Très rapide sur GPU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Temps réel (jeux vidéo, moteurs 3D)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Approximation des ombres &amp; réflexions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Utilisé dans 99% des moteurs graphiques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82150" y="1901190"/>
            <a:ext cx="7993380" cy="7536180"/>
            <a:chOff x="0" y="0"/>
            <a:chExt cx="10657840" cy="10048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5400" y="25400"/>
              <a:ext cx="106070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57840" cy="10048240"/>
            </a:xfrm>
            <a:custGeom>
              <a:avLst/>
              <a:gdLst/>
              <a:ahLst/>
              <a:cxnLst/>
              <a:rect r="r" b="b" t="t" l="l"/>
              <a:pathLst>
                <a:path h="10048240" w="10657840">
                  <a:moveTo>
                    <a:pt x="25400" y="0"/>
                  </a:moveTo>
                  <a:lnTo>
                    <a:pt x="10632440" y="0"/>
                  </a:lnTo>
                  <a:cubicBezTo>
                    <a:pt x="10646410" y="0"/>
                    <a:pt x="10657840" y="11430"/>
                    <a:pt x="10657840" y="25400"/>
                  </a:cubicBezTo>
                  <a:lnTo>
                    <a:pt x="10657840" y="10022840"/>
                  </a:lnTo>
                  <a:cubicBezTo>
                    <a:pt x="10657840" y="10036810"/>
                    <a:pt x="10646410" y="10048240"/>
                    <a:pt x="10632440" y="10048240"/>
                  </a:cubicBezTo>
                  <a:lnTo>
                    <a:pt x="25400" y="10048240"/>
                  </a:lnTo>
                  <a:cubicBezTo>
                    <a:pt x="11430" y="10048240"/>
                    <a:pt x="0" y="10036810"/>
                    <a:pt x="0" y="10022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022840"/>
                  </a:lnTo>
                  <a:lnTo>
                    <a:pt x="25400" y="10022840"/>
                  </a:lnTo>
                  <a:lnTo>
                    <a:pt x="25400" y="9997440"/>
                  </a:lnTo>
                  <a:lnTo>
                    <a:pt x="10632440" y="9997440"/>
                  </a:lnTo>
                  <a:lnTo>
                    <a:pt x="10632440" y="10022840"/>
                  </a:lnTo>
                  <a:lnTo>
                    <a:pt x="10607040" y="10022840"/>
                  </a:lnTo>
                  <a:lnTo>
                    <a:pt x="10607040" y="25400"/>
                  </a:lnTo>
                  <a:lnTo>
                    <a:pt x="10632440" y="25400"/>
                  </a:lnTo>
                  <a:lnTo>
                    <a:pt x="10632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88503" y="1907543"/>
            <a:ext cx="7980683" cy="1031243"/>
            <a:chOff x="0" y="0"/>
            <a:chExt cx="10640911" cy="13749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0607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40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358011"/>
                  </a:lnTo>
                  <a:cubicBezTo>
                    <a:pt x="10640822" y="1367409"/>
                    <a:pt x="10633202" y="1374902"/>
                    <a:pt x="10623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623931" y="1341120"/>
                  </a:lnTo>
                  <a:lnTo>
                    <a:pt x="10623931" y="1358011"/>
                  </a:lnTo>
                  <a:lnTo>
                    <a:pt x="10607040" y="135801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5520" y="1956816"/>
            <a:ext cx="7315200" cy="914400"/>
            <a:chOff x="0" y="0"/>
            <a:chExt cx="975360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0D11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✦ Ray Tracing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343383" y="8399783"/>
            <a:ext cx="2951483" cy="756923"/>
            <a:chOff x="0" y="0"/>
            <a:chExt cx="3935311" cy="10092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3901567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567">
                  <a:moveTo>
                    <a:pt x="0" y="195072"/>
                  </a:moveTo>
                  <a:cubicBezTo>
                    <a:pt x="0" y="87376"/>
                    <a:pt x="89535" y="0"/>
                    <a:pt x="200152" y="0"/>
                  </a:cubicBezTo>
                  <a:lnTo>
                    <a:pt x="3701415" y="0"/>
                  </a:lnTo>
                  <a:cubicBezTo>
                    <a:pt x="3811905" y="0"/>
                    <a:pt x="3901567" y="87376"/>
                    <a:pt x="3901567" y="195072"/>
                  </a:cubicBezTo>
                  <a:lnTo>
                    <a:pt x="3901567" y="780288"/>
                  </a:lnTo>
                  <a:cubicBezTo>
                    <a:pt x="3901567" y="887984"/>
                    <a:pt x="3812032" y="975360"/>
                    <a:pt x="3701415" y="975360"/>
                  </a:cubicBezTo>
                  <a:lnTo>
                    <a:pt x="200152" y="975360"/>
                  </a:lnTo>
                  <a:cubicBezTo>
                    <a:pt x="89662" y="975360"/>
                    <a:pt x="0" y="887984"/>
                    <a:pt x="0" y="780288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35349" cy="1009142"/>
            </a:xfrm>
            <a:custGeom>
              <a:avLst/>
              <a:gdLst/>
              <a:ahLst/>
              <a:cxnLst/>
              <a:rect r="r" b="b" t="t" l="l"/>
              <a:pathLst>
                <a:path h="1009142" w="3935349">
                  <a:moveTo>
                    <a:pt x="0" y="211963"/>
                  </a:moveTo>
                  <a:cubicBezTo>
                    <a:pt x="0" y="94488"/>
                    <a:pt x="97536" y="0"/>
                    <a:pt x="217043" y="0"/>
                  </a:cubicBezTo>
                  <a:lnTo>
                    <a:pt x="3718306" y="0"/>
                  </a:lnTo>
                  <a:lnTo>
                    <a:pt x="3718306" y="16891"/>
                  </a:lnTo>
                  <a:lnTo>
                    <a:pt x="3718306" y="0"/>
                  </a:lnTo>
                  <a:cubicBezTo>
                    <a:pt x="3837813" y="0"/>
                    <a:pt x="3935349" y="94488"/>
                    <a:pt x="3935349" y="211963"/>
                  </a:cubicBezTo>
                  <a:lnTo>
                    <a:pt x="3918458" y="211963"/>
                  </a:lnTo>
                  <a:lnTo>
                    <a:pt x="3935349" y="211963"/>
                  </a:lnTo>
                  <a:lnTo>
                    <a:pt x="3935349" y="797179"/>
                  </a:lnTo>
                  <a:lnTo>
                    <a:pt x="3918458" y="797179"/>
                  </a:lnTo>
                  <a:lnTo>
                    <a:pt x="3935349" y="797179"/>
                  </a:lnTo>
                  <a:cubicBezTo>
                    <a:pt x="3935349" y="914654"/>
                    <a:pt x="3837813" y="1009142"/>
                    <a:pt x="3718306" y="1009142"/>
                  </a:cubicBezTo>
                  <a:lnTo>
                    <a:pt x="3718306" y="992251"/>
                  </a:lnTo>
                  <a:lnTo>
                    <a:pt x="3718306" y="1009142"/>
                  </a:lnTo>
                  <a:lnTo>
                    <a:pt x="217043" y="1009142"/>
                  </a:lnTo>
                  <a:lnTo>
                    <a:pt x="217043" y="992251"/>
                  </a:lnTo>
                  <a:lnTo>
                    <a:pt x="217043" y="1009142"/>
                  </a:lnTo>
                  <a:cubicBezTo>
                    <a:pt x="97536" y="1009269"/>
                    <a:pt x="0" y="914654"/>
                    <a:pt x="0" y="79717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797179"/>
                  </a:lnTo>
                  <a:lnTo>
                    <a:pt x="16891" y="797179"/>
                  </a:lnTo>
                  <a:lnTo>
                    <a:pt x="33909" y="797179"/>
                  </a:lnTo>
                  <a:cubicBezTo>
                    <a:pt x="33909" y="895096"/>
                    <a:pt x="115570" y="975360"/>
                    <a:pt x="217043" y="975360"/>
                  </a:cubicBezTo>
                  <a:lnTo>
                    <a:pt x="3718306" y="975360"/>
                  </a:lnTo>
                  <a:cubicBezTo>
                    <a:pt x="3819906" y="975360"/>
                    <a:pt x="3901440" y="895223"/>
                    <a:pt x="3901440" y="797179"/>
                  </a:cubicBezTo>
                  <a:lnTo>
                    <a:pt x="3901440" y="211963"/>
                  </a:lnTo>
                  <a:cubicBezTo>
                    <a:pt x="3901440" y="114046"/>
                    <a:pt x="3819779" y="33782"/>
                    <a:pt x="3718306" y="33782"/>
                  </a:cubicBezTo>
                  <a:lnTo>
                    <a:pt x="217043" y="33782"/>
                  </a:lnTo>
                  <a:lnTo>
                    <a:pt x="217043" y="16891"/>
                  </a:lnTo>
                  <a:lnTo>
                    <a:pt x="217043" y="33909"/>
                  </a:lnTo>
                  <a:cubicBezTo>
                    <a:pt x="115443" y="33909"/>
                    <a:pt x="33909" y="114046"/>
                    <a:pt x="33909" y="212090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356080" y="8449056"/>
            <a:ext cx="2926080" cy="658368"/>
            <a:chOff x="0" y="0"/>
            <a:chExt cx="3901440" cy="8778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01440" cy="877824"/>
            </a:xfrm>
            <a:custGeom>
              <a:avLst/>
              <a:gdLst/>
              <a:ahLst/>
              <a:cxnLst/>
              <a:rect r="r" b="b" t="t" l="l"/>
              <a:pathLst>
                <a:path h="87782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3901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PHOTORÉALISTE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966960" y="3108960"/>
            <a:ext cx="7132320" cy="5029200"/>
            <a:chOff x="0" y="0"/>
            <a:chExt cx="9509760" cy="6705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09760" cy="6705600"/>
            </a:xfrm>
            <a:custGeom>
              <a:avLst/>
              <a:gdLst/>
              <a:ahLst/>
              <a:cxnLst/>
              <a:rect r="r" b="b" t="t" l="l"/>
              <a:pathLst>
                <a:path h="67056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705600"/>
                  </a:lnTo>
                  <a:lnTo>
                    <a:pt x="0" y="670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70" t="0" r="-4047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9509760" cy="6762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Lance des rayons depuis la caméra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Calcule la lumière physiquement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Ombres, réflexions, transparence parfaites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Lourd à calculer (offline rendering)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Utilisé au cinéma, jeux AAA récents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412480" y="5053841"/>
            <a:ext cx="1463040" cy="1280160"/>
            <a:chOff x="0" y="0"/>
            <a:chExt cx="1950720" cy="1706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50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95072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6B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20" y="365760"/>
            <a:ext cx="16824960" cy="1097280"/>
            <a:chOff x="0" y="0"/>
            <a:chExt cx="2243328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2433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0F4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 miniRT à RT : Ce qui change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8823" y="1541783"/>
            <a:ext cx="16850363" cy="98555"/>
            <a:chOff x="0" y="0"/>
            <a:chExt cx="2246715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2433280" cy="97536"/>
            </a:xfrm>
            <a:custGeom>
              <a:avLst/>
              <a:gdLst/>
              <a:ahLst/>
              <a:cxnLst/>
              <a:rect r="r" b="b" t="t" l="l"/>
              <a:pathLst>
                <a:path h="9753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67063" cy="131320"/>
            </a:xfrm>
            <a:custGeom>
              <a:avLst/>
              <a:gdLst/>
              <a:ahLst/>
              <a:cxnLst/>
              <a:rect r="r" b="b" t="t" l="l"/>
              <a:pathLst>
                <a:path h="13132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14427"/>
                  </a:lnTo>
                  <a:cubicBezTo>
                    <a:pt x="22467063" y="123825"/>
                    <a:pt x="22459443" y="131318"/>
                    <a:pt x="2245017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450171" y="97536"/>
                  </a:lnTo>
                  <a:lnTo>
                    <a:pt x="22450171" y="114427"/>
                  </a:lnTo>
                  <a:lnTo>
                    <a:pt x="22433280" y="11442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1998983"/>
            <a:ext cx="16850363" cy="1342139"/>
            <a:chOff x="0" y="0"/>
            <a:chExt cx="22467151" cy="17895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2433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670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772539"/>
                  </a:lnTo>
                  <a:cubicBezTo>
                    <a:pt x="22467063" y="1781937"/>
                    <a:pt x="22459443" y="1789430"/>
                    <a:pt x="224501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2450171" y="1755648"/>
                  </a:lnTo>
                  <a:lnTo>
                    <a:pt x="22450171" y="1772539"/>
                  </a:lnTo>
                  <a:lnTo>
                    <a:pt x="22433280" y="177253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8823" y="1998983"/>
            <a:ext cx="171707" cy="1342139"/>
            <a:chOff x="0" y="0"/>
            <a:chExt cx="228943" cy="17895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854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72539"/>
                  </a:lnTo>
                  <a:cubicBezTo>
                    <a:pt x="228854" y="1781937"/>
                    <a:pt x="221234" y="1789430"/>
                    <a:pt x="211963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1963" y="1755648"/>
                  </a:lnTo>
                  <a:lnTo>
                    <a:pt x="211963" y="1772539"/>
                  </a:lnTo>
                  <a:lnTo>
                    <a:pt x="195072" y="17725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2231136"/>
            <a:ext cx="2743200" cy="877824"/>
            <a:chOff x="0" y="0"/>
            <a:chExt cx="3657600" cy="1170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65760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◈ Langage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23360" y="2103120"/>
            <a:ext cx="5852160" cy="548640"/>
            <a:chOff x="0" y="0"/>
            <a:chExt cx="780288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802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B9B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miniRT: C uniquement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023360" y="2651760"/>
            <a:ext cx="13167360" cy="548640"/>
            <a:chOff x="0" y="0"/>
            <a:chExt cx="175564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55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RT: C, C++ ou Rust — vous choisissez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18823" y="3498599"/>
            <a:ext cx="16850363" cy="1342139"/>
            <a:chOff x="0" y="0"/>
            <a:chExt cx="22467151" cy="17895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22433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4670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772539"/>
                  </a:lnTo>
                  <a:cubicBezTo>
                    <a:pt x="22467063" y="1781937"/>
                    <a:pt x="22459443" y="1789430"/>
                    <a:pt x="224501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2450171" y="1755648"/>
                  </a:lnTo>
                  <a:lnTo>
                    <a:pt x="22450171" y="1772539"/>
                  </a:lnTo>
                  <a:lnTo>
                    <a:pt x="22433280" y="177253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8823" y="3498599"/>
            <a:ext cx="171707" cy="1342139"/>
            <a:chOff x="0" y="0"/>
            <a:chExt cx="228943" cy="17895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854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72539"/>
                  </a:lnTo>
                  <a:cubicBezTo>
                    <a:pt x="228854" y="1781937"/>
                    <a:pt x="221234" y="1789430"/>
                    <a:pt x="211963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1963" y="1755648"/>
                  </a:lnTo>
                  <a:lnTo>
                    <a:pt x="211963" y="1772539"/>
                  </a:lnTo>
                  <a:lnTo>
                    <a:pt x="195072" y="17725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97280" y="3730752"/>
            <a:ext cx="2743200" cy="877824"/>
            <a:chOff x="0" y="0"/>
            <a:chExt cx="3657600" cy="11704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65760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◉ Objets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23360" y="3602736"/>
            <a:ext cx="5852160" cy="548640"/>
            <a:chOff x="0" y="0"/>
            <a:chExt cx="780288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802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B9B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miniRT: Sphère, plan, cylindre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023360" y="4151376"/>
            <a:ext cx="13167360" cy="548640"/>
            <a:chOff x="0" y="0"/>
            <a:chExt cx="1755648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755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RT: Sphère, plan, cylindre + cône (obligatoire) + illimité en options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18823" y="4998215"/>
            <a:ext cx="16850363" cy="1342139"/>
            <a:chOff x="0" y="0"/>
            <a:chExt cx="22467151" cy="17895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22433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4670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772539"/>
                  </a:lnTo>
                  <a:cubicBezTo>
                    <a:pt x="22467063" y="1781937"/>
                    <a:pt x="22459443" y="1789430"/>
                    <a:pt x="224501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2450171" y="1755648"/>
                  </a:lnTo>
                  <a:lnTo>
                    <a:pt x="22450171" y="1772539"/>
                  </a:lnTo>
                  <a:lnTo>
                    <a:pt x="22433280" y="177253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8823" y="4998215"/>
            <a:ext cx="171707" cy="1342139"/>
            <a:chOff x="0" y="0"/>
            <a:chExt cx="228943" cy="17895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8854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72539"/>
                  </a:lnTo>
                  <a:cubicBezTo>
                    <a:pt x="228854" y="1781937"/>
                    <a:pt x="221234" y="1789430"/>
                    <a:pt x="211963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1963" y="1755648"/>
                  </a:lnTo>
                  <a:lnTo>
                    <a:pt x="211963" y="1772539"/>
                  </a:lnTo>
                  <a:lnTo>
                    <a:pt x="195072" y="17725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7280" y="5230368"/>
            <a:ext cx="2743200" cy="877824"/>
            <a:chOff x="0" y="0"/>
            <a:chExt cx="3657600" cy="11704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365760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⟳ Transformations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23360" y="5102352"/>
            <a:ext cx="5852160" cy="548640"/>
            <a:chOff x="0" y="0"/>
            <a:chExt cx="78028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7802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B9B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miniRT: Basiques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023360" y="5650992"/>
            <a:ext cx="13167360" cy="548640"/>
            <a:chOff x="0" y="0"/>
            <a:chExt cx="1755648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755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RT: Translations et rotations obligatoires sur tous les objets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18823" y="6497831"/>
            <a:ext cx="16850363" cy="1342139"/>
            <a:chOff x="0" y="0"/>
            <a:chExt cx="22467151" cy="178951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22433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4670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772539"/>
                  </a:lnTo>
                  <a:cubicBezTo>
                    <a:pt x="22467063" y="1781937"/>
                    <a:pt x="22459443" y="1789430"/>
                    <a:pt x="224501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2450171" y="1755648"/>
                  </a:lnTo>
                  <a:lnTo>
                    <a:pt x="22450171" y="1772539"/>
                  </a:lnTo>
                  <a:lnTo>
                    <a:pt x="22433280" y="177253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18823" y="6497831"/>
            <a:ext cx="171707" cy="1342139"/>
            <a:chOff x="0" y="0"/>
            <a:chExt cx="228943" cy="17895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8854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72539"/>
                  </a:lnTo>
                  <a:cubicBezTo>
                    <a:pt x="228854" y="1781937"/>
                    <a:pt x="221234" y="1789430"/>
                    <a:pt x="211963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1963" y="1755648"/>
                  </a:lnTo>
                  <a:lnTo>
                    <a:pt x="211963" y="1772539"/>
                  </a:lnTo>
                  <a:lnTo>
                    <a:pt x="195072" y="17725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97280" y="6729984"/>
            <a:ext cx="2743200" cy="877824"/>
            <a:chOff x="0" y="0"/>
            <a:chExt cx="3657600" cy="117043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7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365760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☀ Lumières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023360" y="6601968"/>
            <a:ext cx="5852160" cy="548640"/>
            <a:chOff x="0" y="0"/>
            <a:chExt cx="780288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7802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B9B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miniRT: Lumière ambiante + spot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023360" y="7150608"/>
            <a:ext cx="13167360" cy="548640"/>
            <a:chOff x="0" y="0"/>
            <a:chExt cx="1755648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755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RT: Multi-spot, shadows, shine effect, gestion de la luminosité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18823" y="7997447"/>
            <a:ext cx="16850363" cy="1342139"/>
            <a:chOff x="0" y="0"/>
            <a:chExt cx="22467151" cy="178951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22433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4670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772539"/>
                  </a:lnTo>
                  <a:cubicBezTo>
                    <a:pt x="22467063" y="1781937"/>
                    <a:pt x="22459443" y="1789430"/>
                    <a:pt x="224501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2450171" y="1755648"/>
                  </a:lnTo>
                  <a:lnTo>
                    <a:pt x="22450171" y="1772539"/>
                  </a:lnTo>
                  <a:lnTo>
                    <a:pt x="22433280" y="177253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18823" y="7997447"/>
            <a:ext cx="171707" cy="1342139"/>
            <a:chOff x="0" y="0"/>
            <a:chExt cx="228943" cy="178951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8854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72539"/>
                  </a:lnTo>
                  <a:cubicBezTo>
                    <a:pt x="228854" y="1781937"/>
                    <a:pt x="221234" y="1789430"/>
                    <a:pt x="211963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1963" y="1755648"/>
                  </a:lnTo>
                  <a:lnTo>
                    <a:pt x="211963" y="1772539"/>
                  </a:lnTo>
                  <a:lnTo>
                    <a:pt x="195072" y="177253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97280" y="8229600"/>
            <a:ext cx="2743200" cy="877824"/>
            <a:chOff x="0" y="0"/>
            <a:chExt cx="3657600" cy="117043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365760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◎ Scope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023360" y="8101584"/>
            <a:ext cx="5852160" cy="548640"/>
            <a:chOff x="0" y="0"/>
            <a:chExt cx="780288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7802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B9B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miniRT: Projet d'initiation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4023360" y="8650224"/>
            <a:ext cx="13167360" cy="548640"/>
            <a:chOff x="0" y="0"/>
            <a:chExt cx="1755648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755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RT: Projet long terme : la mandatory = socle, les options = la note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20" y="365760"/>
            <a:ext cx="16824960" cy="1097280"/>
            <a:chOff x="0" y="0"/>
            <a:chExt cx="2243328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2433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0F4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 Partie Mandatory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8823" y="1541783"/>
            <a:ext cx="16850363" cy="98555"/>
            <a:chOff x="0" y="0"/>
            <a:chExt cx="2246715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2433280" cy="97536"/>
            </a:xfrm>
            <a:custGeom>
              <a:avLst/>
              <a:gdLst/>
              <a:ahLst/>
              <a:cxnLst/>
              <a:rect r="r" b="b" t="t" l="l"/>
              <a:pathLst>
                <a:path h="9753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67063" cy="131320"/>
            </a:xfrm>
            <a:custGeom>
              <a:avLst/>
              <a:gdLst/>
              <a:ahLst/>
              <a:cxnLst/>
              <a:rect r="r" b="b" t="t" l="l"/>
              <a:pathLst>
                <a:path h="13132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14427"/>
                  </a:lnTo>
                  <a:cubicBezTo>
                    <a:pt x="22467063" y="123825"/>
                    <a:pt x="22459443" y="131318"/>
                    <a:pt x="2245017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450171" y="97536"/>
                  </a:lnTo>
                  <a:lnTo>
                    <a:pt x="22450171" y="114427"/>
                  </a:lnTo>
                  <a:lnTo>
                    <a:pt x="22433280" y="11442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06117" y="1803397"/>
            <a:ext cx="16875757" cy="1422397"/>
            <a:chOff x="0" y="0"/>
            <a:chExt cx="22501009" cy="18965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3909" y="33909"/>
              <a:ext cx="2243328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A18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01098" cy="1896618"/>
            </a:xfrm>
            <a:custGeom>
              <a:avLst/>
              <a:gdLst/>
              <a:ahLst/>
              <a:cxnLst/>
              <a:rect r="r" b="b" t="t" l="l"/>
              <a:pathLst>
                <a:path h="1896618" w="22501098">
                  <a:moveTo>
                    <a:pt x="33909" y="0"/>
                  </a:moveTo>
                  <a:lnTo>
                    <a:pt x="22467190" y="0"/>
                  </a:lnTo>
                  <a:cubicBezTo>
                    <a:pt x="22485858" y="0"/>
                    <a:pt x="22501098" y="15113"/>
                    <a:pt x="22501098" y="33909"/>
                  </a:cubicBezTo>
                  <a:lnTo>
                    <a:pt x="22501098" y="1862709"/>
                  </a:lnTo>
                  <a:cubicBezTo>
                    <a:pt x="22501098" y="1881378"/>
                    <a:pt x="22485986" y="1896618"/>
                    <a:pt x="22467190" y="1896618"/>
                  </a:cubicBezTo>
                  <a:lnTo>
                    <a:pt x="33909" y="1896618"/>
                  </a:lnTo>
                  <a:cubicBezTo>
                    <a:pt x="15240" y="1896618"/>
                    <a:pt x="0" y="1881505"/>
                    <a:pt x="0" y="1862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862709"/>
                  </a:lnTo>
                  <a:lnTo>
                    <a:pt x="33909" y="1862709"/>
                  </a:lnTo>
                  <a:lnTo>
                    <a:pt x="33909" y="1828800"/>
                  </a:lnTo>
                  <a:lnTo>
                    <a:pt x="22467190" y="1828800"/>
                  </a:lnTo>
                  <a:lnTo>
                    <a:pt x="22467190" y="1862709"/>
                  </a:lnTo>
                  <a:lnTo>
                    <a:pt x="22433280" y="1862709"/>
                  </a:lnTo>
                  <a:lnTo>
                    <a:pt x="22433280" y="33909"/>
                  </a:lnTo>
                  <a:lnTo>
                    <a:pt x="22467190" y="33909"/>
                  </a:lnTo>
                  <a:lnTo>
                    <a:pt x="2246719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011680"/>
            <a:ext cx="16093440" cy="1005840"/>
            <a:chOff x="0" y="0"/>
            <a:chExt cx="21457920" cy="1341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457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La mandatory vaut 0 point — mais les options ne comptent QUE si la mandatory est parfaite à 100%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8823" y="3553463"/>
            <a:ext cx="5511803" cy="2585723"/>
            <a:chOff x="0" y="0"/>
            <a:chExt cx="7349071" cy="34476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8982" cy="3447542"/>
            </a:xfrm>
            <a:custGeom>
              <a:avLst/>
              <a:gdLst/>
              <a:ahLst/>
              <a:cxnLst/>
              <a:rect r="r" b="b" t="t" l="l"/>
              <a:pathLst>
                <a:path h="3447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430651"/>
                  </a:lnTo>
                  <a:cubicBezTo>
                    <a:pt x="7348982" y="3440049"/>
                    <a:pt x="7341362" y="3447542"/>
                    <a:pt x="733209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7332091" y="3413760"/>
                  </a:lnTo>
                  <a:lnTo>
                    <a:pt x="7332091" y="3430651"/>
                  </a:lnTo>
                  <a:lnTo>
                    <a:pt x="7315200" y="3430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8823" y="3553463"/>
            <a:ext cx="5511803" cy="171707"/>
            <a:chOff x="0" y="0"/>
            <a:chExt cx="7349071" cy="2289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48982" cy="228856"/>
            </a:xfrm>
            <a:custGeom>
              <a:avLst/>
              <a:gdLst/>
              <a:ahLst/>
              <a:cxnLst/>
              <a:rect r="r" b="b" t="t" l="l"/>
              <a:pathLst>
                <a:path h="22885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11963"/>
                  </a:lnTo>
                  <a:cubicBezTo>
                    <a:pt x="7348982" y="221361"/>
                    <a:pt x="7341362" y="228854"/>
                    <a:pt x="73320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332091" y="195072"/>
                  </a:lnTo>
                  <a:lnTo>
                    <a:pt x="7332091" y="211963"/>
                  </a:lnTo>
                  <a:lnTo>
                    <a:pt x="7315200" y="21196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5840" y="3840480"/>
            <a:ext cx="4937760" cy="822960"/>
            <a:chOff x="0" y="0"/>
            <a:chExt cx="65836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5836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Objets géométriques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5840" y="4663440"/>
            <a:ext cx="4937760" cy="1188720"/>
            <a:chOff x="0" y="0"/>
            <a:chExt cx="6583680" cy="1584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583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· Sphère · Cylindre · Cône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24679" y="3553463"/>
            <a:ext cx="5511803" cy="2585723"/>
            <a:chOff x="0" y="0"/>
            <a:chExt cx="7349071" cy="34476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8982" cy="3447542"/>
            </a:xfrm>
            <a:custGeom>
              <a:avLst/>
              <a:gdLst/>
              <a:ahLst/>
              <a:cxnLst/>
              <a:rect r="r" b="b" t="t" l="l"/>
              <a:pathLst>
                <a:path h="3447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430651"/>
                  </a:lnTo>
                  <a:cubicBezTo>
                    <a:pt x="7348982" y="3440049"/>
                    <a:pt x="7341362" y="3447542"/>
                    <a:pt x="733209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7332091" y="3413760"/>
                  </a:lnTo>
                  <a:lnTo>
                    <a:pt x="7332091" y="3430651"/>
                  </a:lnTo>
                  <a:lnTo>
                    <a:pt x="7315200" y="3430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24679" y="3553463"/>
            <a:ext cx="5511803" cy="171707"/>
            <a:chOff x="0" y="0"/>
            <a:chExt cx="7349071" cy="2289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48982" cy="228856"/>
            </a:xfrm>
            <a:custGeom>
              <a:avLst/>
              <a:gdLst/>
              <a:ahLst/>
              <a:cxnLst/>
              <a:rect r="r" b="b" t="t" l="l"/>
              <a:pathLst>
                <a:path h="22885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11963"/>
                  </a:lnTo>
                  <a:cubicBezTo>
                    <a:pt x="7348982" y="221361"/>
                    <a:pt x="7341362" y="228854"/>
                    <a:pt x="73320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332091" y="195072"/>
                  </a:lnTo>
                  <a:lnTo>
                    <a:pt x="7332091" y="211963"/>
                  </a:lnTo>
                  <a:lnTo>
                    <a:pt x="7315200" y="21196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711696" y="3840480"/>
            <a:ext cx="4937760" cy="822960"/>
            <a:chOff x="0" y="0"/>
            <a:chExt cx="65836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65836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Caméra libre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11696" y="4663440"/>
            <a:ext cx="4937760" cy="1188720"/>
            <a:chOff x="0" y="0"/>
            <a:chExt cx="6583680" cy="1584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83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583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Position et direction modifiables facilement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30535" y="3553463"/>
            <a:ext cx="5511803" cy="2585723"/>
            <a:chOff x="0" y="0"/>
            <a:chExt cx="7349071" cy="34476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48982" cy="3447542"/>
            </a:xfrm>
            <a:custGeom>
              <a:avLst/>
              <a:gdLst/>
              <a:ahLst/>
              <a:cxnLst/>
              <a:rect r="r" b="b" t="t" l="l"/>
              <a:pathLst>
                <a:path h="3447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430651"/>
                  </a:lnTo>
                  <a:cubicBezTo>
                    <a:pt x="7348982" y="3440049"/>
                    <a:pt x="7341362" y="3447542"/>
                    <a:pt x="733209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7332091" y="3413760"/>
                  </a:lnTo>
                  <a:lnTo>
                    <a:pt x="7332091" y="3430651"/>
                  </a:lnTo>
                  <a:lnTo>
                    <a:pt x="7315200" y="3430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30535" y="3553463"/>
            <a:ext cx="5511803" cy="171707"/>
            <a:chOff x="0" y="0"/>
            <a:chExt cx="7349071" cy="2289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48982" cy="228856"/>
            </a:xfrm>
            <a:custGeom>
              <a:avLst/>
              <a:gdLst/>
              <a:ahLst/>
              <a:cxnLst/>
              <a:rect r="r" b="b" t="t" l="l"/>
              <a:pathLst>
                <a:path h="22885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11963"/>
                  </a:lnTo>
                  <a:cubicBezTo>
                    <a:pt x="7348982" y="221361"/>
                    <a:pt x="7341362" y="228854"/>
                    <a:pt x="73320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332091" y="195072"/>
                  </a:lnTo>
                  <a:lnTo>
                    <a:pt x="7332091" y="211963"/>
                  </a:lnTo>
                  <a:lnTo>
                    <a:pt x="7315200" y="21196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417552" y="3840480"/>
            <a:ext cx="4937760" cy="822960"/>
            <a:chOff x="0" y="0"/>
            <a:chExt cx="658368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65836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Transformations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17552" y="4663440"/>
            <a:ext cx="4937760" cy="1188720"/>
            <a:chOff x="0" y="0"/>
            <a:chExt cx="6583680" cy="1584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583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Translation + rotation sur tous les objets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18823" y="6388103"/>
            <a:ext cx="5511803" cy="2585723"/>
            <a:chOff x="0" y="0"/>
            <a:chExt cx="7349071" cy="344763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48982" cy="3447542"/>
            </a:xfrm>
            <a:custGeom>
              <a:avLst/>
              <a:gdLst/>
              <a:ahLst/>
              <a:cxnLst/>
              <a:rect r="r" b="b" t="t" l="l"/>
              <a:pathLst>
                <a:path h="3447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430651"/>
                  </a:lnTo>
                  <a:cubicBezTo>
                    <a:pt x="7348982" y="3440049"/>
                    <a:pt x="7341362" y="3447542"/>
                    <a:pt x="733209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7332091" y="3413760"/>
                  </a:lnTo>
                  <a:lnTo>
                    <a:pt x="7332091" y="3430651"/>
                  </a:lnTo>
                  <a:lnTo>
                    <a:pt x="7315200" y="3430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18823" y="6388103"/>
            <a:ext cx="5511803" cy="171707"/>
            <a:chOff x="0" y="0"/>
            <a:chExt cx="7349071" cy="2289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48982" cy="228856"/>
            </a:xfrm>
            <a:custGeom>
              <a:avLst/>
              <a:gdLst/>
              <a:ahLst/>
              <a:cxnLst/>
              <a:rect r="r" b="b" t="t" l="l"/>
              <a:pathLst>
                <a:path h="22885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11963"/>
                  </a:lnTo>
                  <a:cubicBezTo>
                    <a:pt x="7348982" y="221361"/>
                    <a:pt x="7341362" y="228854"/>
                    <a:pt x="73320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332091" y="195072"/>
                  </a:lnTo>
                  <a:lnTo>
                    <a:pt x="7332091" y="211963"/>
                  </a:lnTo>
                  <a:lnTo>
                    <a:pt x="7315200" y="21196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05840" y="6675120"/>
            <a:ext cx="4937760" cy="822960"/>
            <a:chOff x="0" y="0"/>
            <a:chExt cx="658368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65836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Gestion de la lumière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5840" y="7498080"/>
            <a:ext cx="4937760" cy="1188720"/>
            <a:chOff x="0" y="0"/>
            <a:chExt cx="6583680" cy="15849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83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583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Multi-spots · Ombres · Shine · Brightness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424679" y="6388103"/>
            <a:ext cx="5511803" cy="2585723"/>
            <a:chOff x="0" y="0"/>
            <a:chExt cx="7349071" cy="344763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48982" cy="3447542"/>
            </a:xfrm>
            <a:custGeom>
              <a:avLst/>
              <a:gdLst/>
              <a:ahLst/>
              <a:cxnLst/>
              <a:rect r="r" b="b" t="t" l="l"/>
              <a:pathLst>
                <a:path h="3447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430651"/>
                  </a:lnTo>
                  <a:cubicBezTo>
                    <a:pt x="7348982" y="3440049"/>
                    <a:pt x="7341362" y="3447542"/>
                    <a:pt x="733209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7332091" y="3413760"/>
                  </a:lnTo>
                  <a:lnTo>
                    <a:pt x="7332091" y="3430651"/>
                  </a:lnTo>
                  <a:lnTo>
                    <a:pt x="7315200" y="3430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424679" y="6388103"/>
            <a:ext cx="5511803" cy="171707"/>
            <a:chOff x="0" y="0"/>
            <a:chExt cx="7349071" cy="22894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48982" cy="228856"/>
            </a:xfrm>
            <a:custGeom>
              <a:avLst/>
              <a:gdLst/>
              <a:ahLst/>
              <a:cxnLst/>
              <a:rect r="r" b="b" t="t" l="l"/>
              <a:pathLst>
                <a:path h="22885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11963"/>
                  </a:lnTo>
                  <a:cubicBezTo>
                    <a:pt x="7348982" y="221361"/>
                    <a:pt x="7341362" y="228854"/>
                    <a:pt x="73320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332091" y="195072"/>
                  </a:lnTo>
                  <a:lnTo>
                    <a:pt x="7332091" y="211963"/>
                  </a:lnTo>
                  <a:lnTo>
                    <a:pt x="7315200" y="21196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711696" y="6675120"/>
            <a:ext cx="4937760" cy="822960"/>
            <a:chOff x="0" y="0"/>
            <a:chExt cx="658368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65836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Redessiner sans recalc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711696" y="7498080"/>
            <a:ext cx="4937760" cy="1188720"/>
            <a:chOff x="0" y="0"/>
            <a:chExt cx="6583680" cy="15849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583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583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Ex: expose event MinilibX bien géré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130535" y="6388103"/>
            <a:ext cx="5511803" cy="2585723"/>
            <a:chOff x="0" y="0"/>
            <a:chExt cx="7349071" cy="344763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48982" cy="3447542"/>
            </a:xfrm>
            <a:custGeom>
              <a:avLst/>
              <a:gdLst/>
              <a:ahLst/>
              <a:cxnLst/>
              <a:rect r="r" b="b" t="t" l="l"/>
              <a:pathLst>
                <a:path h="3447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430651"/>
                  </a:lnTo>
                  <a:cubicBezTo>
                    <a:pt x="7348982" y="3440049"/>
                    <a:pt x="7341362" y="3447542"/>
                    <a:pt x="733209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7332091" y="3413760"/>
                  </a:lnTo>
                  <a:lnTo>
                    <a:pt x="7332091" y="3430651"/>
                  </a:lnTo>
                  <a:lnTo>
                    <a:pt x="7315200" y="3430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130535" y="6388103"/>
            <a:ext cx="5511803" cy="171707"/>
            <a:chOff x="0" y="0"/>
            <a:chExt cx="7349071" cy="22894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48982" cy="228856"/>
            </a:xfrm>
            <a:custGeom>
              <a:avLst/>
              <a:gdLst/>
              <a:ahLst/>
              <a:cxnLst/>
              <a:rect r="r" b="b" t="t" l="l"/>
              <a:pathLst>
                <a:path h="22885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11963"/>
                  </a:lnTo>
                  <a:cubicBezTo>
                    <a:pt x="7348982" y="221361"/>
                    <a:pt x="7341362" y="228854"/>
                    <a:pt x="73320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332091" y="195072"/>
                  </a:lnTo>
                  <a:lnTo>
                    <a:pt x="7332091" y="211963"/>
                  </a:lnTo>
                  <a:lnTo>
                    <a:pt x="7315200" y="21196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417552" y="6675120"/>
            <a:ext cx="4937760" cy="822960"/>
            <a:chOff x="0" y="0"/>
            <a:chExt cx="6583680" cy="10972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65836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Rendu CPU obligatoire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417552" y="7498080"/>
            <a:ext cx="4937760" cy="1188720"/>
            <a:chOff x="0" y="0"/>
            <a:chExt cx="6583680" cy="15849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583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583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 de shader GPU (OpenGL, Vulkan, Metal...)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20" y="365760"/>
            <a:ext cx="16824960" cy="1097280"/>
            <a:chOff x="0" y="0"/>
            <a:chExt cx="2243328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2433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0F4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Les Options — La Note, C'est Ici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8823" y="1541783"/>
            <a:ext cx="16850363" cy="98555"/>
            <a:chOff x="0" y="0"/>
            <a:chExt cx="2246715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2433280" cy="97536"/>
            </a:xfrm>
            <a:custGeom>
              <a:avLst/>
              <a:gdLst/>
              <a:ahLst/>
              <a:cxnLst/>
              <a:rect r="r" b="b" t="t" l="l"/>
              <a:pathLst>
                <a:path h="9753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67063" cy="131320"/>
            </a:xfrm>
            <a:custGeom>
              <a:avLst/>
              <a:gdLst/>
              <a:ahLst/>
              <a:cxnLst/>
              <a:rect r="r" b="b" t="t" l="l"/>
              <a:pathLst>
                <a:path h="13132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14427"/>
                  </a:lnTo>
                  <a:cubicBezTo>
                    <a:pt x="22467063" y="123825"/>
                    <a:pt x="22459443" y="131318"/>
                    <a:pt x="2245017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450171" y="97536"/>
                  </a:lnTo>
                  <a:lnTo>
                    <a:pt x="22450171" y="114427"/>
                  </a:lnTo>
                  <a:lnTo>
                    <a:pt x="22433280" y="11442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2470" y="1901190"/>
            <a:ext cx="8267700" cy="3695700"/>
            <a:chOff x="0" y="0"/>
            <a:chExt cx="11023600" cy="492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10972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360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4902200"/>
                  </a:lnTo>
                  <a:cubicBezTo>
                    <a:pt x="11023600" y="4916170"/>
                    <a:pt x="11012170" y="4927600"/>
                    <a:pt x="1099820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0998200" y="4876800"/>
                  </a:lnTo>
                  <a:lnTo>
                    <a:pt x="10998200" y="4902200"/>
                  </a:lnTo>
                  <a:lnTo>
                    <a:pt x="10972800" y="490220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8823" y="1907543"/>
            <a:ext cx="208283" cy="3683003"/>
            <a:chOff x="0" y="0"/>
            <a:chExt cx="277711" cy="4910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438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76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4893691"/>
                  </a:lnTo>
                  <a:cubicBezTo>
                    <a:pt x="277622" y="4903089"/>
                    <a:pt x="270002" y="4910582"/>
                    <a:pt x="2607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260731" y="4876800"/>
                  </a:lnTo>
                  <a:lnTo>
                    <a:pt x="260731" y="4893691"/>
                  </a:lnTo>
                  <a:lnTo>
                    <a:pt x="243840" y="489369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2103120"/>
            <a:ext cx="7498080" cy="731520"/>
            <a:chOff x="0" y="0"/>
            <a:chExt cx="999744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9974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C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Lumière &amp; Ombres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2926080"/>
            <a:ext cx="7589520" cy="2377440"/>
            <a:chOff x="0" y="0"/>
            <a:chExt cx="10119360" cy="3169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19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02" r="0" b="-1220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119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Lumière ambiante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Lumière directe / parallèle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Ombres selon transparence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90710" y="1901190"/>
            <a:ext cx="8267700" cy="3695700"/>
            <a:chOff x="0" y="0"/>
            <a:chExt cx="11023600" cy="492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972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2360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4902200"/>
                  </a:lnTo>
                  <a:cubicBezTo>
                    <a:pt x="11023600" y="4916170"/>
                    <a:pt x="11012170" y="4927600"/>
                    <a:pt x="1099820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0998200" y="4876800"/>
                  </a:lnTo>
                  <a:lnTo>
                    <a:pt x="10998200" y="4902200"/>
                  </a:lnTo>
                  <a:lnTo>
                    <a:pt x="10972800" y="490220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97063" y="1907543"/>
            <a:ext cx="208283" cy="3683003"/>
            <a:chOff x="0" y="0"/>
            <a:chExt cx="277711" cy="4910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2438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0E5A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76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4893691"/>
                  </a:lnTo>
                  <a:cubicBezTo>
                    <a:pt x="277622" y="4903089"/>
                    <a:pt x="270002" y="4910582"/>
                    <a:pt x="2607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260731" y="4876800"/>
                  </a:lnTo>
                  <a:lnTo>
                    <a:pt x="260731" y="4893691"/>
                  </a:lnTo>
                  <a:lnTo>
                    <a:pt x="243840" y="489369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75520" y="2103120"/>
            <a:ext cx="7498080" cy="731520"/>
            <a:chOff x="0" y="0"/>
            <a:chExt cx="999744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9974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E5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Géométrie avancée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75520" y="2926080"/>
            <a:ext cx="7589520" cy="2377440"/>
            <a:chOff x="0" y="0"/>
            <a:chExt cx="10119360" cy="3169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19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02" r="0" b="-1220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119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Disques, demi-sphères, tubes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Cubes, pyramides, tétraèdres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Paraboloïde, toroïde, hyperboloïde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12470" y="5924550"/>
            <a:ext cx="8267700" cy="3695700"/>
            <a:chOff x="0" y="0"/>
            <a:chExt cx="11023600" cy="4927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10972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2360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4902200"/>
                  </a:lnTo>
                  <a:cubicBezTo>
                    <a:pt x="11023600" y="4916170"/>
                    <a:pt x="11012170" y="4927600"/>
                    <a:pt x="1099820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0998200" y="4876800"/>
                  </a:lnTo>
                  <a:lnTo>
                    <a:pt x="10998200" y="4902200"/>
                  </a:lnTo>
                  <a:lnTo>
                    <a:pt x="10972800" y="490220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18823" y="5930903"/>
            <a:ext cx="208283" cy="3683003"/>
            <a:chOff x="0" y="0"/>
            <a:chExt cx="277711" cy="49106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2438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76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4893691"/>
                  </a:lnTo>
                  <a:cubicBezTo>
                    <a:pt x="277622" y="4903089"/>
                    <a:pt x="270002" y="4910582"/>
                    <a:pt x="2607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260731" y="4876800"/>
                  </a:lnTo>
                  <a:lnTo>
                    <a:pt x="260731" y="4893691"/>
                  </a:lnTo>
                  <a:lnTo>
                    <a:pt x="243840" y="489369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97280" y="6126480"/>
            <a:ext cx="7498080" cy="731520"/>
            <a:chOff x="0" y="0"/>
            <a:chExt cx="999744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99974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6B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Matériaux &amp; Textures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97280" y="6949440"/>
            <a:ext cx="7589520" cy="2377440"/>
            <a:chOff x="0" y="0"/>
            <a:chExt cx="10119360" cy="3169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19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02" r="0" b="-1220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19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Bump mapping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Textures fichiers image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Réflexion &amp; transparence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Perturbation de couleur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90710" y="5924550"/>
            <a:ext cx="8267700" cy="3695700"/>
            <a:chOff x="0" y="0"/>
            <a:chExt cx="11023600" cy="4927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5400" y="25400"/>
              <a:ext cx="10972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2360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4902200"/>
                  </a:lnTo>
                  <a:cubicBezTo>
                    <a:pt x="11023600" y="4916170"/>
                    <a:pt x="11012170" y="4927600"/>
                    <a:pt x="1099820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0998200" y="4876800"/>
                  </a:lnTo>
                  <a:lnTo>
                    <a:pt x="10998200" y="4902200"/>
                  </a:lnTo>
                  <a:lnTo>
                    <a:pt x="10972800" y="490220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B57B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497063" y="5930903"/>
            <a:ext cx="208283" cy="3683003"/>
            <a:chOff x="0" y="0"/>
            <a:chExt cx="277711" cy="49106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2438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B57B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76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4893691"/>
                  </a:lnTo>
                  <a:cubicBezTo>
                    <a:pt x="277622" y="4903089"/>
                    <a:pt x="270002" y="4910582"/>
                    <a:pt x="2607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260731" y="4876800"/>
                  </a:lnTo>
                  <a:lnTo>
                    <a:pt x="260731" y="4893691"/>
                  </a:lnTo>
                  <a:lnTo>
                    <a:pt x="243840" y="489369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57B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875520" y="6126480"/>
            <a:ext cx="7498080" cy="731520"/>
            <a:chOff x="0" y="0"/>
            <a:chExt cx="9997440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99974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B57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Features avancées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75520" y="6949440"/>
            <a:ext cx="7589520" cy="2377440"/>
            <a:chOff x="0" y="0"/>
            <a:chExt cx="10119360" cy="31699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19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02" r="0" b="-1220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119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Fichier .rt de config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Éléments négatifs (soustraction)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Quadriques / quartiques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 multi-threading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12470" y="9646920"/>
            <a:ext cx="16093440" cy="640080"/>
            <a:chOff x="0" y="0"/>
            <a:chExt cx="21457920" cy="8534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214579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B57B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Note maximale : 125  —  Vous pouvez avoir des points bonus sur les options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20" y="365760"/>
            <a:ext cx="16824960" cy="1097280"/>
            <a:chOff x="0" y="0"/>
            <a:chExt cx="2243328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2433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0F4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 du projet : Par où commencer ?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8823" y="1541783"/>
            <a:ext cx="16850363" cy="98555"/>
            <a:chOff x="0" y="0"/>
            <a:chExt cx="2246715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2433280" cy="97536"/>
            </a:xfrm>
            <a:custGeom>
              <a:avLst/>
              <a:gdLst/>
              <a:ahLst/>
              <a:cxnLst/>
              <a:rect r="r" b="b" t="t" l="l"/>
              <a:pathLst>
                <a:path h="9753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E5A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67063" cy="131320"/>
            </a:xfrm>
            <a:custGeom>
              <a:avLst/>
              <a:gdLst/>
              <a:ahLst/>
              <a:cxnLst/>
              <a:rect r="r" b="b" t="t" l="l"/>
              <a:pathLst>
                <a:path h="13132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14427"/>
                  </a:lnTo>
                  <a:cubicBezTo>
                    <a:pt x="22467063" y="123825"/>
                    <a:pt x="22459443" y="131318"/>
                    <a:pt x="2245017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450171" y="97536"/>
                  </a:lnTo>
                  <a:lnTo>
                    <a:pt x="22450171" y="114427"/>
                  </a:lnTo>
                  <a:lnTo>
                    <a:pt x="22433280" y="11442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1998983"/>
            <a:ext cx="5328923" cy="3225803"/>
            <a:chOff x="0" y="0"/>
            <a:chExt cx="7105231" cy="43010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70713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1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284091"/>
                  </a:lnTo>
                  <a:cubicBezTo>
                    <a:pt x="7105142" y="4293489"/>
                    <a:pt x="7097522" y="4300982"/>
                    <a:pt x="70882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088251" y="4267200"/>
                  </a:lnTo>
                  <a:lnTo>
                    <a:pt x="7088251" y="4284091"/>
                  </a:lnTo>
                  <a:lnTo>
                    <a:pt x="7071360" y="42840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2218439"/>
            <a:ext cx="1031243" cy="1031243"/>
            <a:chOff x="0" y="0"/>
            <a:chExt cx="1374991" cy="1374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2231136"/>
            <a:ext cx="1005840" cy="1005840"/>
            <a:chOff x="0" y="0"/>
            <a:chExt cx="134112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1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03120" y="2286000"/>
            <a:ext cx="3840480" cy="822960"/>
            <a:chOff x="0" y="0"/>
            <a:chExt cx="512064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1206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Parser de scène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5840" y="3383280"/>
            <a:ext cx="4846320" cy="1554480"/>
            <a:chOff x="0" y="0"/>
            <a:chExt cx="6461760" cy="2072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61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46176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Lisez un fichier .rt : caméra, lumières, objets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009637" y="3577333"/>
            <a:ext cx="453133" cy="50797"/>
            <a:chOff x="0" y="0"/>
            <a:chExt cx="604177" cy="677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33909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474091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474091" y="67691"/>
                  </a:lnTo>
                  <a:close/>
                  <a:moveTo>
                    <a:pt x="0" y="0"/>
                  </a:moveTo>
                  <a:lnTo>
                    <a:pt x="203200" y="0"/>
                  </a:lnTo>
                  <a:lnTo>
                    <a:pt x="2032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24679" y="1998983"/>
            <a:ext cx="5328923" cy="3225803"/>
            <a:chOff x="0" y="0"/>
            <a:chExt cx="7105231" cy="43010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0713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051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284091"/>
                  </a:lnTo>
                  <a:cubicBezTo>
                    <a:pt x="7105142" y="4293489"/>
                    <a:pt x="7097522" y="4300982"/>
                    <a:pt x="70882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088251" y="4267200"/>
                  </a:lnTo>
                  <a:lnTo>
                    <a:pt x="7088251" y="4284091"/>
                  </a:lnTo>
                  <a:lnTo>
                    <a:pt x="7071360" y="42840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607559" y="2218439"/>
            <a:ext cx="1031243" cy="1031243"/>
            <a:chOff x="0" y="0"/>
            <a:chExt cx="137499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620256" y="2231136"/>
            <a:ext cx="1005840" cy="1005840"/>
            <a:chOff x="0" y="0"/>
            <a:chExt cx="1341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1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08976" y="2286000"/>
            <a:ext cx="3840480" cy="822960"/>
            <a:chOff x="0" y="0"/>
            <a:chExt cx="512064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51206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Math &amp; Rayons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711696" y="3383280"/>
            <a:ext cx="4846320" cy="1554480"/>
            <a:chOff x="0" y="0"/>
            <a:chExt cx="6461760" cy="2072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61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46176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Vecteurs, intersections : plan, sphère, cylindre, cône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715493" y="3577333"/>
            <a:ext cx="453133" cy="50797"/>
            <a:chOff x="0" y="0"/>
            <a:chExt cx="604177" cy="677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3909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474091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474091" y="67691"/>
                  </a:lnTo>
                  <a:close/>
                  <a:moveTo>
                    <a:pt x="0" y="0"/>
                  </a:moveTo>
                  <a:lnTo>
                    <a:pt x="203200" y="0"/>
                  </a:lnTo>
                  <a:lnTo>
                    <a:pt x="2032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130535" y="1998983"/>
            <a:ext cx="5328923" cy="3225803"/>
            <a:chOff x="0" y="0"/>
            <a:chExt cx="7105231" cy="43010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70713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051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284091"/>
                  </a:lnTo>
                  <a:cubicBezTo>
                    <a:pt x="7105142" y="4293489"/>
                    <a:pt x="7097522" y="4300982"/>
                    <a:pt x="70882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088251" y="4267200"/>
                  </a:lnTo>
                  <a:lnTo>
                    <a:pt x="7088251" y="4284091"/>
                  </a:lnTo>
                  <a:lnTo>
                    <a:pt x="7071360" y="42840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313415" y="2218439"/>
            <a:ext cx="1031243" cy="1031243"/>
            <a:chOff x="0" y="0"/>
            <a:chExt cx="1374991" cy="13749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326112" y="2231136"/>
            <a:ext cx="1005840" cy="1005840"/>
            <a:chOff x="0" y="0"/>
            <a:chExt cx="134112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1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8823" y="5565143"/>
            <a:ext cx="5328923" cy="3225803"/>
            <a:chOff x="0" y="0"/>
            <a:chExt cx="7105231" cy="43010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70713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051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284091"/>
                  </a:lnTo>
                  <a:cubicBezTo>
                    <a:pt x="7105142" y="4293489"/>
                    <a:pt x="7097522" y="4300982"/>
                    <a:pt x="70882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088251" y="4267200"/>
                  </a:lnTo>
                  <a:lnTo>
                    <a:pt x="7088251" y="4284091"/>
                  </a:lnTo>
                  <a:lnTo>
                    <a:pt x="7071360" y="42840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01703" y="5784599"/>
            <a:ext cx="1031243" cy="1031243"/>
            <a:chOff x="0" y="0"/>
            <a:chExt cx="1374991" cy="13749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5797296"/>
            <a:ext cx="1005840" cy="1005840"/>
            <a:chOff x="0" y="0"/>
            <a:chExt cx="134112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1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514832" y="2286000"/>
            <a:ext cx="3840480" cy="822960"/>
            <a:chOff x="0" y="0"/>
            <a:chExt cx="512064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51206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Fenêtre &amp; affichage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417552" y="3383280"/>
            <a:ext cx="4846320" cy="1554480"/>
            <a:chOff x="0" y="0"/>
            <a:chExt cx="6461760" cy="2072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61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646176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MinilibX / SDL — expose event, pixel parfait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009637" y="7143493"/>
            <a:ext cx="453133" cy="50797"/>
            <a:chOff x="0" y="0"/>
            <a:chExt cx="604177" cy="6772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33909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474091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474091" y="67691"/>
                  </a:lnTo>
                  <a:close/>
                  <a:moveTo>
                    <a:pt x="0" y="0"/>
                  </a:moveTo>
                  <a:lnTo>
                    <a:pt x="203200" y="0"/>
                  </a:lnTo>
                  <a:lnTo>
                    <a:pt x="2032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424679" y="5565143"/>
            <a:ext cx="5328923" cy="3225803"/>
            <a:chOff x="0" y="0"/>
            <a:chExt cx="7105231" cy="430107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70713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051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284091"/>
                  </a:lnTo>
                  <a:cubicBezTo>
                    <a:pt x="7105142" y="4293489"/>
                    <a:pt x="7097522" y="4300982"/>
                    <a:pt x="70882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088251" y="4267200"/>
                  </a:lnTo>
                  <a:lnTo>
                    <a:pt x="7088251" y="4284091"/>
                  </a:lnTo>
                  <a:lnTo>
                    <a:pt x="7071360" y="42840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607559" y="5784599"/>
            <a:ext cx="1031243" cy="1031243"/>
            <a:chOff x="0" y="0"/>
            <a:chExt cx="1374991" cy="137499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620256" y="5797296"/>
            <a:ext cx="1005840" cy="1005840"/>
            <a:chOff x="0" y="0"/>
            <a:chExt cx="1341120" cy="13411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1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808976" y="5852160"/>
            <a:ext cx="3840480" cy="822960"/>
            <a:chOff x="0" y="0"/>
            <a:chExt cx="5120640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51206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Transformations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711696" y="6949440"/>
            <a:ext cx="4846320" cy="1554480"/>
            <a:chOff x="0" y="0"/>
            <a:chExt cx="6461760" cy="2072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461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646176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Translation + rotation sur tous les objets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715493" y="7143493"/>
            <a:ext cx="453133" cy="50797"/>
            <a:chOff x="0" y="0"/>
            <a:chExt cx="604177" cy="6772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33909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474091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474091" y="67691"/>
                  </a:lnTo>
                  <a:close/>
                  <a:moveTo>
                    <a:pt x="0" y="0"/>
                  </a:moveTo>
                  <a:lnTo>
                    <a:pt x="203200" y="0"/>
                  </a:lnTo>
                  <a:lnTo>
                    <a:pt x="2032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130535" y="5565143"/>
            <a:ext cx="5328923" cy="3225803"/>
            <a:chOff x="0" y="0"/>
            <a:chExt cx="7105231" cy="43010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0713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1051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284091"/>
                  </a:lnTo>
                  <a:cubicBezTo>
                    <a:pt x="7105142" y="4293489"/>
                    <a:pt x="7097522" y="4300982"/>
                    <a:pt x="70882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088251" y="4267200"/>
                  </a:lnTo>
                  <a:lnTo>
                    <a:pt x="7088251" y="4284091"/>
                  </a:lnTo>
                  <a:lnTo>
                    <a:pt x="7071360" y="42840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57B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313415" y="5784599"/>
            <a:ext cx="1031243" cy="1031243"/>
            <a:chOff x="0" y="0"/>
            <a:chExt cx="1374991" cy="137499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B57B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B57B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326112" y="5797296"/>
            <a:ext cx="1005840" cy="1005840"/>
            <a:chOff x="0" y="0"/>
            <a:chExt cx="1341120" cy="13411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1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514832" y="5852160"/>
            <a:ext cx="3840480" cy="822960"/>
            <a:chOff x="0" y="0"/>
            <a:chExt cx="5120640" cy="10972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51206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B57B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Options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417552" y="6949440"/>
            <a:ext cx="4846320" cy="1554480"/>
            <a:chOff x="0" y="0"/>
            <a:chExt cx="6461760" cy="20726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461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646176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Réflexion · Texture · Bump map · Objets composés…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103120" y="5888741"/>
            <a:ext cx="3840480" cy="822960"/>
            <a:chOff x="0" y="0"/>
            <a:chExt cx="5120640" cy="10972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51206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Shadi</a:t>
              </a:r>
              <a:r>
                <a:rPr lang="en-US" sz="2600" b="true">
                  <a:solidFill>
                    <a:srgbClr val="00C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 de base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05840" y="6892042"/>
            <a:ext cx="4846320" cy="1554480"/>
            <a:chOff x="0" y="0"/>
            <a:chExt cx="6461760" cy="2072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461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646176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2200">
                  <a:solidFill>
                    <a:srgbClr val="8B9B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iffuse + ombres (Phong model)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20" y="365760"/>
            <a:ext cx="16824960" cy="1097280"/>
            <a:chOff x="0" y="0"/>
            <a:chExt cx="2243328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2433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0F4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Conseils pour réussir le projet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8823" y="1541783"/>
            <a:ext cx="16850363" cy="98555"/>
            <a:chOff x="0" y="0"/>
            <a:chExt cx="2246715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2433280" cy="97536"/>
            </a:xfrm>
            <a:custGeom>
              <a:avLst/>
              <a:gdLst/>
              <a:ahLst/>
              <a:cxnLst/>
              <a:rect r="r" b="b" t="t" l="l"/>
              <a:pathLst>
                <a:path h="9753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67063" cy="131320"/>
            </a:xfrm>
            <a:custGeom>
              <a:avLst/>
              <a:gdLst/>
              <a:ahLst/>
              <a:cxnLst/>
              <a:rect r="r" b="b" t="t" l="l"/>
              <a:pathLst>
                <a:path h="13132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14427"/>
                  </a:lnTo>
                  <a:cubicBezTo>
                    <a:pt x="22467063" y="123825"/>
                    <a:pt x="22459443" y="131318"/>
                    <a:pt x="2245017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450171" y="97536"/>
                  </a:lnTo>
                  <a:lnTo>
                    <a:pt x="22450171" y="114427"/>
                  </a:lnTo>
                  <a:lnTo>
                    <a:pt x="22433280" y="11442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1907543"/>
            <a:ext cx="16850363" cy="1397003"/>
            <a:chOff x="0" y="0"/>
            <a:chExt cx="22467151" cy="18626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67063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45691"/>
                  </a:lnTo>
                  <a:cubicBezTo>
                    <a:pt x="22467063" y="1855089"/>
                    <a:pt x="22459443" y="1862582"/>
                    <a:pt x="2245017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2450171" y="1828800"/>
                  </a:lnTo>
                  <a:lnTo>
                    <a:pt x="22450171" y="1845691"/>
                  </a:lnTo>
                  <a:lnTo>
                    <a:pt x="22433280" y="18456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8823" y="1907543"/>
            <a:ext cx="171707" cy="1397003"/>
            <a:chOff x="0" y="0"/>
            <a:chExt cx="228943" cy="1862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E5A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854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45691"/>
                  </a:lnTo>
                  <a:cubicBezTo>
                    <a:pt x="228854" y="1855089"/>
                    <a:pt x="221234" y="1862582"/>
                    <a:pt x="211963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11963" y="1828800"/>
                  </a:lnTo>
                  <a:lnTo>
                    <a:pt x="211963" y="1845691"/>
                  </a:lnTo>
                  <a:lnTo>
                    <a:pt x="195072" y="18456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2011680"/>
            <a:ext cx="16459200" cy="585216"/>
            <a:chOff x="0" y="0"/>
            <a:chExt cx="21945600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E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Implémenter le fichier de config .rt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2615184"/>
            <a:ext cx="16459200" cy="585216"/>
            <a:chOff x="0" y="0"/>
            <a:chExt cx="21945600" cy="780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sujet le recommande explicitement. Ça vous permettra de faire des démos live lors de la soutenance. Facilitez vous la vie.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8823" y="3462023"/>
            <a:ext cx="16850363" cy="1397003"/>
            <a:chOff x="0" y="0"/>
            <a:chExt cx="22467151" cy="18626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67063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45691"/>
                  </a:lnTo>
                  <a:cubicBezTo>
                    <a:pt x="22467063" y="1855089"/>
                    <a:pt x="22459443" y="1862582"/>
                    <a:pt x="2245017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2450171" y="1828800"/>
                  </a:lnTo>
                  <a:lnTo>
                    <a:pt x="22450171" y="1845691"/>
                  </a:lnTo>
                  <a:lnTo>
                    <a:pt x="22433280" y="18456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18823" y="3462023"/>
            <a:ext cx="171707" cy="1397003"/>
            <a:chOff x="0" y="0"/>
            <a:chExt cx="228943" cy="1862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E5A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8854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45691"/>
                  </a:lnTo>
                  <a:cubicBezTo>
                    <a:pt x="228854" y="1855089"/>
                    <a:pt x="221234" y="1862582"/>
                    <a:pt x="211963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11963" y="1828800"/>
                  </a:lnTo>
                  <a:lnTo>
                    <a:pt x="211963" y="1845691"/>
                  </a:lnTo>
                  <a:lnTo>
                    <a:pt x="195072" y="18456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3566160"/>
            <a:ext cx="16459200" cy="585216"/>
            <a:chOff x="0" y="0"/>
            <a:chExt cx="2194560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E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Ne pas négliger la soutenance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7280" y="4169664"/>
            <a:ext cx="16459200" cy="585216"/>
            <a:chOff x="0" y="0"/>
            <a:chExt cx="21945600" cy="78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Vous devrez faire des manipulations LIVE de vos scènes. Préparez des scènes claires et des outils pour les modifier en direct.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18823" y="5016503"/>
            <a:ext cx="16850363" cy="1397003"/>
            <a:chOff x="0" y="0"/>
            <a:chExt cx="22467151" cy="18626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467063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45691"/>
                  </a:lnTo>
                  <a:cubicBezTo>
                    <a:pt x="22467063" y="1855089"/>
                    <a:pt x="22459443" y="1862582"/>
                    <a:pt x="2245017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2450171" y="1828800"/>
                  </a:lnTo>
                  <a:lnTo>
                    <a:pt x="22450171" y="1845691"/>
                  </a:lnTo>
                  <a:lnTo>
                    <a:pt x="22433280" y="18456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18823" y="5016503"/>
            <a:ext cx="171707" cy="1397003"/>
            <a:chOff x="0" y="0"/>
            <a:chExt cx="228943" cy="18626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E5A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8854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45691"/>
                  </a:lnTo>
                  <a:cubicBezTo>
                    <a:pt x="228854" y="1855089"/>
                    <a:pt x="221234" y="1862582"/>
                    <a:pt x="211963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11963" y="1828800"/>
                  </a:lnTo>
                  <a:lnTo>
                    <a:pt x="211963" y="1845691"/>
                  </a:lnTo>
                  <a:lnTo>
                    <a:pt x="195072" y="18456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A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97280" y="5120640"/>
            <a:ext cx="16459200" cy="585216"/>
            <a:chOff x="0" y="0"/>
            <a:chExt cx="21945600" cy="780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E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Coder les options progressivement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97280" y="5724144"/>
            <a:ext cx="16459200" cy="585216"/>
            <a:chOff x="0" y="0"/>
            <a:chExt cx="21945600" cy="780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mandatory</a:t>
              </a:r>
              <a:r>
                <a:rPr lang="en-US" sz="22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doit être parfaite, pas polie indéfiniment. Une fois qu'elle tient, passez aux options, c'est là que se joue votre note.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18823" y="6570983"/>
            <a:ext cx="16850363" cy="1397003"/>
            <a:chOff x="0" y="0"/>
            <a:chExt cx="22467151" cy="18626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467063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45691"/>
                  </a:lnTo>
                  <a:cubicBezTo>
                    <a:pt x="22467063" y="1855089"/>
                    <a:pt x="22459443" y="1862582"/>
                    <a:pt x="2245017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2450171" y="1828800"/>
                  </a:lnTo>
                  <a:lnTo>
                    <a:pt x="22450171" y="1845691"/>
                  </a:lnTo>
                  <a:lnTo>
                    <a:pt x="22433280" y="18456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18823" y="6570983"/>
            <a:ext cx="171707" cy="1397003"/>
            <a:chOff x="0" y="0"/>
            <a:chExt cx="228943" cy="18626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8854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45691"/>
                  </a:lnTo>
                  <a:cubicBezTo>
                    <a:pt x="228854" y="1855089"/>
                    <a:pt x="221234" y="1862582"/>
                    <a:pt x="211963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11963" y="1828800"/>
                  </a:lnTo>
                  <a:lnTo>
                    <a:pt x="211963" y="1845691"/>
                  </a:lnTo>
                  <a:lnTo>
                    <a:pt x="195072" y="18456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97280" y="6675120"/>
            <a:ext cx="16459200" cy="585216"/>
            <a:chOff x="0" y="0"/>
            <a:chExt cx="2194560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GPU rendering = INTERDIT pour le rendu final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97280" y="7278624"/>
            <a:ext cx="16459200" cy="775208"/>
            <a:chOff x="0" y="0"/>
            <a:chExt cx="21945600" cy="10336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0" cy="1033611"/>
            </a:xfrm>
            <a:custGeom>
              <a:avLst/>
              <a:gdLst/>
              <a:ahLst/>
              <a:cxnLst/>
              <a:rect r="r" b="b" t="t" l="l"/>
              <a:pathLst>
                <a:path h="103361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5959" r="0" b="-35145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2194560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Vertex/fragment shaders (OpenGL, Vulkan…) sont bannis pour l'image. Mais le GPU computing (CUDA, OpenCL) est autorisé pour accélérer les calculs.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18823" y="8125463"/>
            <a:ext cx="16850363" cy="1397003"/>
            <a:chOff x="0" y="0"/>
            <a:chExt cx="22467151" cy="18626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41E3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467063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45691"/>
                  </a:lnTo>
                  <a:cubicBezTo>
                    <a:pt x="22467063" y="1855089"/>
                    <a:pt x="22459443" y="1862582"/>
                    <a:pt x="2245017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2450171" y="1828800"/>
                  </a:lnTo>
                  <a:lnTo>
                    <a:pt x="22450171" y="1845691"/>
                  </a:lnTo>
                  <a:lnTo>
                    <a:pt x="22433280" y="18456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18823" y="8125463"/>
            <a:ext cx="171707" cy="1397003"/>
            <a:chOff x="0" y="0"/>
            <a:chExt cx="228943" cy="18626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8854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45691"/>
                  </a:lnTo>
                  <a:cubicBezTo>
                    <a:pt x="228854" y="1855089"/>
                    <a:pt x="221234" y="1862582"/>
                    <a:pt x="211963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11963" y="1828800"/>
                  </a:lnTo>
                  <a:lnTo>
                    <a:pt x="211963" y="1845691"/>
                  </a:lnTo>
                  <a:lnTo>
                    <a:pt x="195072" y="18456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97280" y="8229600"/>
            <a:ext cx="16459200" cy="585216"/>
            <a:chOff x="0" y="0"/>
            <a:chExt cx="21945600" cy="7802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Pas de fuites mémoire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97280" y="8833104"/>
            <a:ext cx="16459200" cy="585216"/>
            <a:chOff x="0" y="0"/>
            <a:chExt cx="21945600" cy="7802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Surtout si vous codez en C. Valgrind est votre ami. Le sujet l'exige explicitement.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DAHKvuuDbuA</dc:identifier>
  <dcterms:modified xsi:type="dcterms:W3CDTF">2011-08-01T06:04:30Z</dcterms:modified>
  <cp:revision>1</cp:revision>
  <dc:title>RT_Presentation_42.pptx</dc:title>
</cp:coreProperties>
</file>